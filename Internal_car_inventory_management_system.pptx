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8" r:id="rId11"/>
    <p:sldId id="292" r:id="rId12"/>
    <p:sldId id="304" r:id="rId13"/>
    <p:sldId id="309" r:id="rId14"/>
    <p:sldId id="370" r:id="rId15"/>
    <p:sldId id="369" r:id="rId16"/>
    <p:sldId id="33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366" r:id="rId43"/>
    <p:sldId id="374" r:id="rId44"/>
    <p:sldId id="372" r:id="rId45"/>
    <p:sldId id="373" r:id="rId46"/>
    <p:sldId id="368" r:id="rId47"/>
    <p:sldId id="375" r:id="rId48"/>
    <p:sldId id="36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2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2EF1F-DF29-4CAF-8C52-93E45D9EDB0A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DB539-CC28-467C-AC85-A19B4DC8F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150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A926-3A79-9BAA-C36D-F245352B0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89465-24E6-A4D1-8C89-109AF39E7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F75A-27C7-6775-088D-3694BB95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FA6B6-FBF9-7FFB-70D7-1EC4A406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202AD-4CAE-24A0-A171-D3D8FADD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95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7039-E457-8656-DAF0-BBCF5DB2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C724-F340-8285-AE20-C58A3782B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AD941-48A1-8808-407F-56D0E307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0597C-400A-6A4F-F555-BBCC2BB0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D19AD-B792-BF51-2EB3-27661325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5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41CD-3B4A-AA36-130C-7FA999C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FCBC1-6643-67D1-0782-85F46B078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6EBE9-32FA-E6C8-CCC8-22CE0BC5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C9F14-5146-670D-DFA5-5753AF48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684B0-2EAD-0A27-AEF4-49BA3211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05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C4D6-556F-FFC9-C280-B445A9F2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354A-E36F-C55D-1277-D3BCF97DC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5233C-7E57-D132-2A5D-5E95EA7CB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17173-6D41-A127-974F-D0B6364F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EBCC3-10FB-1EF2-F9EB-2F4E26A4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2E8BD-28C4-2036-7BC2-CE1EF0F1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42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7FD6-4A80-140F-EBBF-1A58850C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F0304-4A69-8A62-8653-EDB091B2F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97590-CE0A-1650-7711-E0927C592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10BAC-5EB3-0B87-4F1A-1F61BC82E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1E5CC-2F2C-C569-0914-553B2CC2A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9D2CE-EF35-F4E2-BAE3-C90011355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98368-8BB3-A1F3-328F-C636907B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DFA26-6F15-AEE1-9FB1-901DDA25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98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68A5-35DE-35ED-73D1-66EF0CB4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B69E9-B8B9-572B-5692-9067766E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97FFB-78A7-DBB1-2D6D-72C10DC3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DAABA-9A2B-C00C-90E4-BC007E96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8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54360-1CE1-DC6D-6C96-54A55570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D10A8-D1C8-D3B6-B38E-FB27203F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3BB83-4DA8-B185-1895-C630D32E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87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4667-B08C-E363-05AD-7B5B1957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DEFF-5073-E06C-5601-11A0430C4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2B20C-A2BB-C918-9D17-D2A4DB2B0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F0EC3-6B2B-BE2A-76C6-8EE78197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71B29-A832-D115-6CC0-E4F893A9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B0662-7B91-609F-D036-6E9CD26B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30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E97A-A3AA-662B-2194-D8C41B91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A446C-7CF5-EA7B-4C99-F05D8696A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BBE6C-B445-4889-20E2-58935466F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43D58-2F84-555D-BAD1-C1B1A0C0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C51B3-BB93-F8A4-4469-2AB65E6B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F472B-AF21-123E-E2FE-2F8A4CC4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8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B5DC-FB3D-5772-53C3-C6AB2FE3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70383-B078-3E47-6150-EA06BE0BC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3874-1E65-02A9-4270-F0B1D6D8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519D5-F747-8BAE-B498-CEFC1393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161AA-A5A4-DDC9-0908-676CEE7C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62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B94A7F-69AD-9D62-8130-7FC0B7229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A2F4A-26A3-679D-4C42-4653BCB54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F0FA-D283-707E-1F27-E7F1DE10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602B4-2047-560B-284A-134B9ED6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D7B2B-6D1C-CAF1-66E9-37D54C6C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90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321E0-3B84-5036-DB56-52F5F1A48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7D717-2574-2300-1F1A-3047930D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FE234-B8DE-39FF-7B8F-70FBE0CFB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14971-9162-4737-9255-704D824A7ACE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5CC1-F334-1042-3B53-0897FEE2B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4C90D-CCC8-E6EB-E199-ED31D524D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0CDB-87D1-4D0C-A387-602DC202A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69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ventory-control-techniques" TargetMode="External"/><Relationship Id="rId2" Type="http://schemas.openxmlformats.org/officeDocument/2006/relationships/hyperlink" Target="https://www.tutorialspoint.com/inventory-managemen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eksforgeeks.org/file-handling-cpp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91;p1">
            <a:extLst>
              <a:ext uri="{FF2B5EF4-FFF2-40B4-BE49-F238E27FC236}">
                <a16:creationId xmlns:a16="http://schemas.microsoft.com/office/drawing/2014/main" id="{3EFD0658-CF1A-1BEA-6A52-A61E2527F9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285" y="118449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92;p1">
            <a:extLst>
              <a:ext uri="{FF2B5EF4-FFF2-40B4-BE49-F238E27FC236}">
                <a16:creationId xmlns:a16="http://schemas.microsoft.com/office/drawing/2014/main" id="{C22C2892-F084-4B6A-E509-FBDCBFC99C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72111" y="170222"/>
            <a:ext cx="1384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93;p1">
            <a:extLst>
              <a:ext uri="{FF2B5EF4-FFF2-40B4-BE49-F238E27FC236}">
                <a16:creationId xmlns:a16="http://schemas.microsoft.com/office/drawing/2014/main" id="{29594319-EA68-00E0-36DC-638E74B75151}"/>
              </a:ext>
            </a:extLst>
          </p:cNvPr>
          <p:cNvSpPr txBox="1"/>
          <p:nvPr/>
        </p:nvSpPr>
        <p:spPr>
          <a:xfrm>
            <a:off x="2453480" y="-72051"/>
            <a:ext cx="728503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Sarvajanik Education Society</a:t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      Sarvajanik College of Engineering &amp; Technology, Surat.</a:t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Applications </a:t>
            </a:r>
            <a:b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Academic Year: 2025– 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294;p1">
            <a:extLst>
              <a:ext uri="{FF2B5EF4-FFF2-40B4-BE49-F238E27FC236}">
                <a16:creationId xmlns:a16="http://schemas.microsoft.com/office/drawing/2014/main" id="{417DAFD9-A482-1AF4-E560-3F1FF94518ED}"/>
              </a:ext>
            </a:extLst>
          </p:cNvPr>
          <p:cNvSpPr txBox="1"/>
          <p:nvPr/>
        </p:nvSpPr>
        <p:spPr>
          <a:xfrm>
            <a:off x="3109451" y="1490049"/>
            <a:ext cx="6858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2000"/>
            </a:pPr>
            <a:endParaRPr lang="en-US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Project On</a:t>
            </a:r>
            <a:endParaRPr lang="en-US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“Car Inventory Management System”</a:t>
            </a:r>
            <a:endParaRPr lang="en-US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lang="en-US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lang="en-IN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endParaRPr lang="en-US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Presented By : </a:t>
            </a:r>
          </a:p>
          <a:p>
            <a:pPr algn="ctr">
              <a:buClr>
                <a:srgbClr val="000000"/>
              </a:buClr>
              <a:buSzPts val="2000"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Tushit Maisuriya (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ET25MTCA097 )</a:t>
            </a:r>
            <a:endParaRPr lang="en-IN"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Dhruvinsinh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Solanki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 ET25MTCA130 )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Jevil Patel (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ET25MTCA106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)</a:t>
            </a: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dirty="0">
                <a:solidFill>
                  <a:srgbClr val="26262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MCA </a:t>
            </a:r>
            <a:r>
              <a:rPr lang="en-US" b="1" dirty="0">
                <a:solidFill>
                  <a:srgbClr val="26262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| </a:t>
            </a:r>
            <a:r>
              <a:rPr lang="en-US" dirty="0">
                <a:solidFill>
                  <a:srgbClr val="26262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Sem-1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dk1"/>
              </a:buClr>
              <a:buSzPts val="1800"/>
            </a:pPr>
            <a:endParaRPr lang="en-IN" b="1" dirty="0">
              <a:solidFill>
                <a:srgbClr val="262626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chemeClr val="dk1"/>
              </a:buClr>
              <a:buSzPts val="1800"/>
            </a:pPr>
            <a:endParaRPr b="1" dirty="0">
              <a:solidFill>
                <a:srgbClr val="262626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Under the Guidance of</a:t>
            </a:r>
            <a:endParaRPr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Prof. Veer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Pachchigar</a:t>
            </a:r>
            <a:endParaRPr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endParaRPr sz="1400" dirty="0">
              <a:solidFill>
                <a:srgbClr val="4C4C4C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525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4E9FE-7CF3-2A57-758A-9FFBBCFFC1F4}"/>
              </a:ext>
            </a:extLst>
          </p:cNvPr>
          <p:cNvSpPr txBox="1"/>
          <p:nvPr/>
        </p:nvSpPr>
        <p:spPr>
          <a:xfrm>
            <a:off x="1666567" y="1860444"/>
            <a:ext cx="8858865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Inventory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3D8EC-F153-A0C3-4E92-BBFEBEA2C30E}"/>
              </a:ext>
            </a:extLst>
          </p:cNvPr>
          <p:cNvSpPr txBox="1"/>
          <p:nvPr/>
        </p:nvSpPr>
        <p:spPr>
          <a:xfrm>
            <a:off x="78658" y="5821149"/>
            <a:ext cx="3706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Tushit Maisuriya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     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Dhruvinsinh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Solanki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Jevil Patel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5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D39401D-CC98-8E2B-31DB-22A23FDB921E}"/>
              </a:ext>
            </a:extLst>
          </p:cNvPr>
          <p:cNvSpPr txBox="1">
            <a:spLocks/>
          </p:cNvSpPr>
          <p:nvPr/>
        </p:nvSpPr>
        <p:spPr>
          <a:xfrm>
            <a:off x="708158" y="369071"/>
            <a:ext cx="2094036" cy="8590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47842BF-DA33-D84E-FBC8-4FEDE41C5394}"/>
              </a:ext>
            </a:extLst>
          </p:cNvPr>
          <p:cNvSpPr txBox="1">
            <a:spLocks/>
          </p:cNvSpPr>
          <p:nvPr/>
        </p:nvSpPr>
        <p:spPr>
          <a:xfrm>
            <a:off x="4011679" y="1496304"/>
            <a:ext cx="4857018" cy="40195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Project Abstract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Objective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</a:t>
            </a:r>
            <a:r>
              <a:rPr lang="en-US" sz="3200" dirty="0">
                <a:solidFill>
                  <a:srgbClr val="20202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Source Code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dirty="0">
                <a:solidFill>
                  <a:srgbClr val="20202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Screenshot</a:t>
            </a:r>
          </a:p>
          <a:p>
            <a:pPr marL="342900" indent="-342900">
              <a:buFont typeface="Wingdings 3" charset="2"/>
              <a:buAutoNum type="arabicPeriod"/>
            </a:pPr>
            <a:r>
              <a:rPr lang="en-US" sz="3200" dirty="0">
                <a:solidFill>
                  <a:srgbClr val="20202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Test cases</a:t>
            </a:r>
          </a:p>
          <a:p>
            <a:pPr marL="342900" indent="-342900">
              <a:buFont typeface="Wingdings 3" charset="2"/>
              <a:buAutoNum type="arabicPeriod"/>
            </a:pPr>
            <a:r>
              <a:rPr lang="en-US" sz="3200" dirty="0">
                <a:solidFill>
                  <a:srgbClr val="20202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Conclusion	</a:t>
            </a:r>
            <a:endParaRPr lang="en-US" sz="2800" dirty="0">
              <a:solidFill>
                <a:srgbClr val="20202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indent="-342900">
              <a:buFont typeface="Wingdings 3" charset="2"/>
              <a:buAutoNum type="arabicPeriod"/>
            </a:pPr>
            <a:r>
              <a:rPr lang="en-US" sz="3200" dirty="0">
                <a:solidFill>
                  <a:srgbClr val="20202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References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 3" charset="2"/>
              <a:buAutoNum type="arabicPeriod"/>
            </a:pPr>
            <a:endParaRPr lang="en-US" sz="3200" b="1" dirty="0">
              <a:solidFill>
                <a:srgbClr val="20202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indent="-342900">
              <a:buFont typeface="Wingdings 3" charset="2"/>
              <a:buAutoNum type="arabicPeriod"/>
            </a:pPr>
            <a:endParaRPr lang="en-US" sz="3200" b="1" dirty="0">
              <a:solidFill>
                <a:srgbClr val="20202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3329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BD01E-F0C2-D0A4-FFDD-6F096856A802}"/>
              </a:ext>
            </a:extLst>
          </p:cNvPr>
          <p:cNvSpPr txBox="1"/>
          <p:nvPr/>
        </p:nvSpPr>
        <p:spPr>
          <a:xfrm>
            <a:off x="304800" y="326612"/>
            <a:ext cx="3765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EB8D7-532A-FD14-7DC7-D7FDFB273E8A}"/>
              </a:ext>
            </a:extLst>
          </p:cNvPr>
          <p:cNvSpPr txBox="1"/>
          <p:nvPr/>
        </p:nvSpPr>
        <p:spPr>
          <a:xfrm>
            <a:off x="1896172" y="1868129"/>
            <a:ext cx="950997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console-based program made in C++.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cars Inventory, suppliers, staff, and sales easily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access for Admin, Staff, and Suppliers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track of stock, sales, and supplier requests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reduces mistakes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programming can solve real business problems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45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58"/>
    </mc:Choice>
    <mc:Fallback xmlns="">
      <p:transition spd="slow" advTm="1425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AF4A98-1AAB-A6E2-44F0-1E74E7128F8B}"/>
              </a:ext>
            </a:extLst>
          </p:cNvPr>
          <p:cNvSpPr txBox="1"/>
          <p:nvPr/>
        </p:nvSpPr>
        <p:spPr>
          <a:xfrm>
            <a:off x="304801" y="326612"/>
            <a:ext cx="2202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B9039-FA29-3A90-DCBB-F52A7862307C}"/>
              </a:ext>
            </a:extLst>
          </p:cNvPr>
          <p:cNvSpPr txBox="1"/>
          <p:nvPr/>
        </p:nvSpPr>
        <p:spPr>
          <a:xfrm>
            <a:off x="1725560" y="1294919"/>
            <a:ext cx="1006331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 main objectives are: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stock monitoring and supplier communication.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role-specific functionalities for Admin, Staff, and Suppliers.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car inventory management.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reports for informed decision-making.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 security with role-based access and password management.</a:t>
            </a:r>
          </a:p>
          <a:p>
            <a:pPr algn="l" rtl="0">
              <a:buNone/>
            </a:pPr>
            <a:r>
              <a:rPr lang="en-US" b="0" i="0" dirty="0">
                <a:solidFill>
                  <a:srgbClr val="FFFFFF"/>
                </a:solidFill>
                <a:effectLst/>
              </a:rPr>
              <a:t>• Improve stock monitoring and supplier communication</a:t>
            </a:r>
            <a:endParaRPr lang="en-US" dirty="0">
              <a:effectLst/>
            </a:endParaRPr>
          </a:p>
          <a:p>
            <a:pPr algn="l" rtl="0">
              <a:buNone/>
            </a:pPr>
            <a:r>
              <a:rPr lang="en-US" b="0" i="0" dirty="0">
                <a:solidFill>
                  <a:srgbClr val="FFFFFF"/>
                </a:solidFill>
                <a:effectLst/>
              </a:rPr>
              <a:t>• Provide role-specific functionalities for Admin, Staff, and Suppliers</a:t>
            </a:r>
            <a:endParaRPr lang="en-US" dirty="0">
              <a:effectLst/>
            </a:endParaRPr>
          </a:p>
          <a:p>
            <a:pPr algn="l" rtl="0">
              <a:buNone/>
            </a:pPr>
            <a:r>
              <a:rPr lang="en-US" b="0" i="0" dirty="0">
                <a:solidFill>
                  <a:srgbClr val="FFFFFF"/>
                </a:solidFill>
                <a:effectLst/>
              </a:rPr>
              <a:t>• Automate car inventory management</a:t>
            </a:r>
            <a:endParaRPr lang="en-US" dirty="0">
              <a:effectLst/>
            </a:endParaRPr>
          </a:p>
          <a:p>
            <a:pPr algn="l" rtl="0">
              <a:buNone/>
            </a:pPr>
            <a:r>
              <a:rPr lang="en-US" b="0" i="0" dirty="0">
                <a:solidFill>
                  <a:srgbClr val="FFFFFF"/>
                </a:solidFill>
                <a:effectLst/>
              </a:rPr>
              <a:t>• Generate detailed reports for informed decision-making</a:t>
            </a:r>
            <a:endParaRPr lang="en-US" dirty="0">
              <a:effectLst/>
            </a:endParaRPr>
          </a:p>
          <a:p>
            <a:pPr algn="l" rtl="0">
              <a:buNone/>
            </a:pPr>
            <a:r>
              <a:rPr lang="en-US" b="0" i="0" dirty="0">
                <a:solidFill>
                  <a:srgbClr val="FFFFFF"/>
                </a:solidFill>
                <a:effectLst/>
              </a:rPr>
              <a:t>• Enhance security with role-based access and password management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988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AA397-8034-C519-6F17-829D7D982FA7}"/>
              </a:ext>
            </a:extLst>
          </p:cNvPr>
          <p:cNvSpPr txBox="1"/>
          <p:nvPr/>
        </p:nvSpPr>
        <p:spPr>
          <a:xfrm>
            <a:off x="412955" y="385606"/>
            <a:ext cx="2910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16F4D-9341-61C6-0D56-012057827BCB}"/>
              </a:ext>
            </a:extLst>
          </p:cNvPr>
          <p:cNvSpPr txBox="1"/>
          <p:nvPr/>
        </p:nvSpPr>
        <p:spPr>
          <a:xfrm>
            <a:off x="412955" y="1025983"/>
            <a:ext cx="1927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1.1 Role Login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2BFCD-2B11-1C46-66BF-43555E389FEF}"/>
              </a:ext>
            </a:extLst>
          </p:cNvPr>
          <p:cNvSpPr txBox="1"/>
          <p:nvPr/>
        </p:nvSpPr>
        <p:spPr>
          <a:xfrm>
            <a:off x="1268360" y="1789471"/>
            <a:ext cx="104615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bool login(string username, string password) {</a:t>
            </a:r>
          </a:p>
          <a:p>
            <a:r>
              <a:rPr lang="en-IN" dirty="0"/>
              <a:t>    string </a:t>
            </a:r>
            <a:r>
              <a:rPr lang="en-IN" dirty="0" err="1"/>
              <a:t>getUsername</a:t>
            </a:r>
            <a:r>
              <a:rPr lang="en-IN" dirty="0"/>
              <a:t>, </a:t>
            </a:r>
            <a:r>
              <a:rPr lang="en-IN" dirty="0" err="1"/>
              <a:t>getPassword</a:t>
            </a:r>
            <a:r>
              <a:rPr lang="en-IN" dirty="0"/>
              <a:t>;</a:t>
            </a:r>
          </a:p>
          <a:p>
            <a:r>
              <a:rPr lang="en-IN" dirty="0"/>
              <a:t>    int attempts = 1;</a:t>
            </a:r>
          </a:p>
          <a:p>
            <a:r>
              <a:rPr lang="en-IN" dirty="0"/>
              <a:t>    char </a:t>
            </a:r>
            <a:r>
              <a:rPr lang="en-IN" dirty="0" err="1"/>
              <a:t>ch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while (attempts &lt; 4) {</a:t>
            </a:r>
          </a:p>
          <a:p>
            <a:r>
              <a:rPr lang="en-IN" dirty="0"/>
              <a:t>    	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	</a:t>
            </a:r>
            <a:r>
              <a:rPr lang="en-IN" dirty="0" err="1"/>
              <a:t>getUsername.clear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getPassword.clear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username: ";</a:t>
            </a:r>
          </a:p>
          <a:p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</a:t>
            </a:r>
            <a:r>
              <a:rPr lang="en-IN" dirty="0" err="1"/>
              <a:t>getUsername</a:t>
            </a:r>
            <a:r>
              <a:rPr lang="en-IN" dirty="0"/>
              <a:t>;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password: ";</a:t>
            </a:r>
          </a:p>
          <a:p>
            <a:r>
              <a:rPr lang="en-IN" dirty="0"/>
              <a:t>        while ((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getch</a:t>
            </a:r>
            <a:r>
              <a:rPr lang="en-IN" dirty="0"/>
              <a:t>()) != 13) {</a:t>
            </a:r>
          </a:p>
          <a:p>
            <a:r>
              <a:rPr lang="en-IN" dirty="0"/>
              <a:t>	        </a:t>
            </a:r>
            <a:r>
              <a:rPr lang="en-IN" dirty="0" err="1"/>
              <a:t>getPassword.push_back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r>
              <a:rPr lang="en-IN" dirty="0"/>
              <a:t>	        </a:t>
            </a:r>
            <a:r>
              <a:rPr lang="en-IN" dirty="0" err="1"/>
              <a:t>cout</a:t>
            </a:r>
            <a:r>
              <a:rPr lang="en-IN" dirty="0"/>
              <a:t> &lt;&lt; "*";</a:t>
            </a:r>
          </a:p>
          <a:p>
            <a:r>
              <a:rPr lang="en-IN" dirty="0"/>
              <a:t>	    }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53534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41532-D896-C25B-D98B-DB2BE06D2D33}"/>
              </a:ext>
            </a:extLst>
          </p:cNvPr>
          <p:cNvSpPr txBox="1"/>
          <p:nvPr/>
        </p:nvSpPr>
        <p:spPr>
          <a:xfrm>
            <a:off x="1288025" y="39424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(</a:t>
            </a:r>
            <a:r>
              <a:rPr lang="en-IN" dirty="0" err="1"/>
              <a:t>getUsername</a:t>
            </a:r>
            <a:r>
              <a:rPr lang="en-IN" dirty="0"/>
              <a:t> == username &amp;&amp; </a:t>
            </a:r>
            <a:r>
              <a:rPr lang="en-IN" dirty="0" err="1"/>
              <a:t>getPassword</a:t>
            </a:r>
            <a:r>
              <a:rPr lang="en-IN" dirty="0"/>
              <a:t> == password) {</a:t>
            </a:r>
          </a:p>
          <a:p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 &lt;&lt;  "Login Successful!"&lt;&lt;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        return true;</a:t>
            </a:r>
          </a:p>
          <a:p>
            <a:r>
              <a:rPr lang="en-IN" dirty="0"/>
              <a:t>        } else {</a:t>
            </a:r>
          </a:p>
          <a:p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 &lt;&lt;  "? Invalid credentials!"&lt;&lt;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        attempts++;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"?? Too many failed attempts! Please wait 30 seconds...\n";</a:t>
            </a:r>
          </a:p>
          <a:p>
            <a:r>
              <a:rPr lang="en-IN" dirty="0"/>
              <a:t>    </a:t>
            </a:r>
            <a:r>
              <a:rPr lang="en-IN" dirty="0" err="1"/>
              <a:t>this_thread</a:t>
            </a:r>
            <a:r>
              <a:rPr lang="en-IN" dirty="0"/>
              <a:t>::</a:t>
            </a:r>
            <a:r>
              <a:rPr lang="en-IN" dirty="0" err="1"/>
              <a:t>sleep_for</a:t>
            </a:r>
            <a:r>
              <a:rPr lang="en-IN" dirty="0"/>
              <a:t>(chrono::seconds(30));</a:t>
            </a:r>
          </a:p>
          <a:p>
            <a:r>
              <a:rPr lang="en-IN" dirty="0"/>
              <a:t>    return false;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193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F01F8D-2BE7-490B-60DE-AF98D890D27E}"/>
              </a:ext>
            </a:extLst>
          </p:cNvPr>
          <p:cNvSpPr txBox="1"/>
          <p:nvPr/>
        </p:nvSpPr>
        <p:spPr>
          <a:xfrm>
            <a:off x="245807" y="259067"/>
            <a:ext cx="1927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1.2 Admin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E4613-3912-A9FC-AC41-392C4775A4EE}"/>
              </a:ext>
            </a:extLst>
          </p:cNvPr>
          <p:cNvSpPr txBox="1"/>
          <p:nvPr/>
        </p:nvSpPr>
        <p:spPr>
          <a:xfrm>
            <a:off x="742335" y="905398"/>
            <a:ext cx="93701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Admin::menu(){</a:t>
            </a:r>
          </a:p>
          <a:p>
            <a:r>
              <a:rPr lang="en-IN" dirty="0"/>
              <a:t>    system("</a:t>
            </a:r>
            <a:r>
              <a:rPr lang="en-IN" dirty="0" err="1"/>
              <a:t>cls</a:t>
            </a:r>
            <a:r>
              <a:rPr lang="en-IN" dirty="0"/>
              <a:t>");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(110) &lt;&lt; "|| ADMIN MENU ||"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(120) &lt;&lt; "1. PRODUCT MANAGEMENT \t 2. STOCK MANAGEMENT"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(121) &lt;&lt; "3. SUPPLIER MANAGEMENT \t 4. STAFF MANAGEMENT"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(109) &lt;&lt; "5. REPORTS \t\t 6. CHANGE PASSWORD"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(86)  &lt;&lt; "7. LOGOUT"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C9CCC-74A0-C199-FEF5-0466D0491D5A}"/>
              </a:ext>
            </a:extLst>
          </p:cNvPr>
          <p:cNvSpPr txBox="1"/>
          <p:nvPr/>
        </p:nvSpPr>
        <p:spPr>
          <a:xfrm>
            <a:off x="742335" y="5546693"/>
            <a:ext cx="8853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is the primary control menu that opens as soon as the Admin logs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connects all the major parts of the project, like Products, Stock, and Staff.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user just types a number (1 to 7) to switch between different screens easily.</a:t>
            </a:r>
          </a:p>
        </p:txBody>
      </p:sp>
    </p:spTree>
    <p:extLst>
      <p:ext uri="{BB962C8B-B14F-4D97-AF65-F5344CB8AC3E}">
        <p14:creationId xmlns:p14="http://schemas.microsoft.com/office/powerpoint/2010/main" val="1319570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5FD66-A041-2A5A-ED17-FE4961E64654}"/>
              </a:ext>
            </a:extLst>
          </p:cNvPr>
          <p:cNvSpPr txBox="1"/>
          <p:nvPr/>
        </p:nvSpPr>
        <p:spPr>
          <a:xfrm>
            <a:off x="378542" y="534370"/>
            <a:ext cx="3215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1.3 Product Management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ECCFC-631F-2E50-0403-D2704E9726B3}"/>
              </a:ext>
            </a:extLst>
          </p:cNvPr>
          <p:cNvSpPr txBox="1"/>
          <p:nvPr/>
        </p:nvSpPr>
        <p:spPr>
          <a:xfrm>
            <a:off x="766916" y="1109148"/>
            <a:ext cx="82197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Admin::</a:t>
            </a:r>
            <a:r>
              <a:rPr lang="en-IN" dirty="0" err="1"/>
              <a:t>productMenu</a:t>
            </a:r>
            <a:r>
              <a:rPr lang="en-IN" dirty="0"/>
              <a:t>(){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(110) &lt;&lt; " || PRODUCT MANAGEMENT || 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(110) &lt;&lt;"1. Add Product \t\t 2. Edit Product"&lt;&lt;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(113) &lt;&lt;"3. Delete Product \t\t 4. View Product"&lt;&lt;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(84) &lt;&lt;"5. Back"&lt;&lt;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29F38-D67D-7A76-E25C-0975D0F88F74}"/>
              </a:ext>
            </a:extLst>
          </p:cNvPr>
          <p:cNvSpPr txBox="1"/>
          <p:nvPr/>
        </p:nvSpPr>
        <p:spPr>
          <a:xfrm>
            <a:off x="742335" y="5546693"/>
            <a:ext cx="9245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This menu handles all basic database actions: adding, viewing, editing, and deleting items.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Allows the admin to keep the product list accurate and up to date.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Option 5 allows the user to safely return back to the main Admin screen..</a:t>
            </a:r>
          </a:p>
        </p:txBody>
      </p:sp>
    </p:spTree>
    <p:extLst>
      <p:ext uri="{BB962C8B-B14F-4D97-AF65-F5344CB8AC3E}">
        <p14:creationId xmlns:p14="http://schemas.microsoft.com/office/powerpoint/2010/main" val="322301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676D5-6AF3-A9A2-BFF6-E961A5FD246C}"/>
              </a:ext>
            </a:extLst>
          </p:cNvPr>
          <p:cNvSpPr txBox="1"/>
          <p:nvPr/>
        </p:nvSpPr>
        <p:spPr>
          <a:xfrm>
            <a:off x="378542" y="534370"/>
            <a:ext cx="3215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1.4 Stock Management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1D3CA-CF6E-D5A8-E3AF-E9289978DE93}"/>
              </a:ext>
            </a:extLst>
          </p:cNvPr>
          <p:cNvSpPr txBox="1"/>
          <p:nvPr/>
        </p:nvSpPr>
        <p:spPr>
          <a:xfrm>
            <a:off x="1278193" y="1120676"/>
            <a:ext cx="103435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Admin::</a:t>
            </a:r>
            <a:r>
              <a:rPr lang="en-IN" dirty="0" err="1"/>
              <a:t>stockMenu</a:t>
            </a:r>
            <a:r>
              <a:rPr lang="en-IN" dirty="0"/>
              <a:t>(){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(110) &lt;&lt; "|| STOCK MANAGEMENT ||"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(91) &lt;&lt;"1. VIEW STOCK "&lt;&lt; </a:t>
            </a:r>
            <a:r>
              <a:rPr lang="en-IN" dirty="0" err="1"/>
              <a:t>setw</a:t>
            </a:r>
            <a:r>
              <a:rPr lang="en-IN" dirty="0"/>
              <a:t>(50) &lt;&lt;" 2. VIEW PRODUCT RESPONSE"&lt;&lt;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(109) &lt;&lt;"3. REQUEST SUPPLIER FOR PRODUCT "&lt;&lt; </a:t>
            </a:r>
            <a:r>
              <a:rPr lang="en-IN" dirty="0" err="1"/>
              <a:t>setw</a:t>
            </a:r>
            <a:r>
              <a:rPr lang="en-IN" dirty="0"/>
              <a:t>(16) &lt;&lt;" 4. BACK"&lt;&lt;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E4FA1-CFCF-9AE8-9D60-BDB1E3629010}"/>
              </a:ext>
            </a:extLst>
          </p:cNvPr>
          <p:cNvSpPr txBox="1"/>
          <p:nvPr/>
        </p:nvSpPr>
        <p:spPr>
          <a:xfrm>
            <a:off x="742335" y="5546693"/>
            <a:ext cx="9245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Allows the admin to check current stock quantities instantly.</a:t>
            </a:r>
            <a:r>
              <a:rPr lang="en-IN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Features a built-in option to request stock replenishment from vendors.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Option 4 provides a quick route back to the previous menu level.</a:t>
            </a:r>
          </a:p>
        </p:txBody>
      </p:sp>
    </p:spTree>
    <p:extLst>
      <p:ext uri="{BB962C8B-B14F-4D97-AF65-F5344CB8AC3E}">
        <p14:creationId xmlns:p14="http://schemas.microsoft.com/office/powerpoint/2010/main" val="304653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B1FB2-D8EF-6290-95BB-1BE76DC645BB}"/>
              </a:ext>
            </a:extLst>
          </p:cNvPr>
          <p:cNvSpPr txBox="1"/>
          <p:nvPr/>
        </p:nvSpPr>
        <p:spPr>
          <a:xfrm>
            <a:off x="260554" y="244317"/>
            <a:ext cx="2859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1.5  Supplier Management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512AB-48E1-BC60-4F24-04EEC1AC2378}"/>
              </a:ext>
            </a:extLst>
          </p:cNvPr>
          <p:cNvSpPr txBox="1"/>
          <p:nvPr/>
        </p:nvSpPr>
        <p:spPr>
          <a:xfrm>
            <a:off x="737648" y="732663"/>
            <a:ext cx="111024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Admin::</a:t>
            </a:r>
            <a:r>
              <a:rPr lang="en-IN" dirty="0" err="1"/>
              <a:t>staffSupplierMenu</a:t>
            </a:r>
            <a:r>
              <a:rPr lang="en-IN" dirty="0"/>
              <a:t>(string role){</a:t>
            </a:r>
          </a:p>
          <a:p>
            <a:pPr lvl="1"/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if (role == "supplier") role = "SUPPLIER";</a:t>
            </a:r>
          </a:p>
          <a:p>
            <a:pPr lvl="1"/>
            <a:r>
              <a:rPr lang="en-IN" dirty="0"/>
              <a:t>else if(role == "staff") role = "STAFF";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(96) &lt;&lt; "|| " &lt;&lt; role &lt;&lt;" MANAGEMENT ||"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(88) &lt;&lt;"1. Add new "&lt;&lt;role&lt;&lt; </a:t>
            </a:r>
            <a:r>
              <a:rPr lang="en-IN" dirty="0" err="1"/>
              <a:t>setw</a:t>
            </a:r>
            <a:r>
              <a:rPr lang="en-IN" dirty="0"/>
              <a:t>(25) &lt;&lt;" 2. Edit "&lt;&lt; role &lt;&lt;" Details"&lt;&lt;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(87) &lt;&lt;"3. Update "&lt;&lt; role &lt;&lt;" Credential "&lt;&lt; </a:t>
            </a:r>
            <a:r>
              <a:rPr lang="en-IN" dirty="0" err="1"/>
              <a:t>setw</a:t>
            </a:r>
            <a:r>
              <a:rPr lang="en-IN" dirty="0"/>
              <a:t>(31) &lt;&lt;"4. Active/</a:t>
            </a:r>
            <a:r>
              <a:rPr lang="en-IN" dirty="0" err="1"/>
              <a:t>Deactive</a:t>
            </a:r>
            <a:r>
              <a:rPr lang="en-IN" dirty="0"/>
              <a:t> Status"&lt;&lt;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(85) &lt;&lt;"5. View "&lt;&lt; role &lt;&lt;"\t\t\t 6. Exit"&lt;&lt;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2C15-58CE-FEDD-6D7A-8E9A2B5D62B9}"/>
              </a:ext>
            </a:extLst>
          </p:cNvPr>
          <p:cNvSpPr txBox="1"/>
          <p:nvPr/>
        </p:nvSpPr>
        <p:spPr>
          <a:xfrm>
            <a:off x="737648" y="5525172"/>
            <a:ext cx="9245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a single function template to manage both external suppliers and internal staff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</a:t>
            </a:r>
            <a:r>
              <a:rPr lang="en-IN" dirty="0"/>
              <a:t>Handles adding profiles, updating login credentials, and viewing records.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Features an active/</a:t>
            </a:r>
            <a:r>
              <a:rPr lang="en-IN" dirty="0" err="1"/>
              <a:t>deactive</a:t>
            </a:r>
            <a:r>
              <a:rPr lang="en-IN" dirty="0"/>
              <a:t> switch to temporarily suspend or enable records instantly.</a:t>
            </a:r>
          </a:p>
        </p:txBody>
      </p:sp>
    </p:spTree>
    <p:extLst>
      <p:ext uri="{BB962C8B-B14F-4D97-AF65-F5344CB8AC3E}">
        <p14:creationId xmlns:p14="http://schemas.microsoft.com/office/powerpoint/2010/main" val="361838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40C05-8169-FEBA-19B2-85A3C51676DD}"/>
              </a:ext>
            </a:extLst>
          </p:cNvPr>
          <p:cNvSpPr txBox="1"/>
          <p:nvPr/>
        </p:nvSpPr>
        <p:spPr>
          <a:xfrm>
            <a:off x="260554" y="244317"/>
            <a:ext cx="2859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1.6  Reports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F6185-F153-C6C1-3C8E-AD38CE4D87D7}"/>
              </a:ext>
            </a:extLst>
          </p:cNvPr>
          <p:cNvSpPr txBox="1"/>
          <p:nvPr/>
        </p:nvSpPr>
        <p:spPr>
          <a:xfrm>
            <a:off x="662233" y="699297"/>
            <a:ext cx="111401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Admin::</a:t>
            </a:r>
            <a:r>
              <a:rPr lang="en-IN" dirty="0" err="1"/>
              <a:t>reportMenu</a:t>
            </a:r>
            <a:r>
              <a:rPr lang="en-IN" dirty="0"/>
              <a:t>(){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(107) &lt;&lt; "Reports"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(93) &lt;&lt;"1. Stock Report"&lt;&lt; </a:t>
            </a:r>
            <a:r>
              <a:rPr lang="en-IN" dirty="0" err="1"/>
              <a:t>setw</a:t>
            </a:r>
            <a:r>
              <a:rPr lang="en-IN" dirty="0"/>
              <a:t>(35) &lt;&lt;"2. Supplier Report"&lt;&lt;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 </a:t>
            </a:r>
            <a:r>
              <a:rPr lang="en-IN" dirty="0" err="1"/>
              <a:t>setw</a:t>
            </a:r>
            <a:r>
              <a:rPr lang="en-IN" dirty="0"/>
              <a:t>(96) &lt;&lt;"3. Purchase Report"&lt;&lt; </a:t>
            </a:r>
            <a:r>
              <a:rPr lang="en-IN" dirty="0" err="1"/>
              <a:t>setw</a:t>
            </a:r>
            <a:r>
              <a:rPr lang="en-IN" dirty="0"/>
              <a:t>(21) &lt;&lt;"4. Back"&lt;&lt;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F46D0-8652-3786-2B6F-1942918F2E0F}"/>
              </a:ext>
            </a:extLst>
          </p:cNvPr>
          <p:cNvSpPr txBox="1"/>
          <p:nvPr/>
        </p:nvSpPr>
        <p:spPr>
          <a:xfrm>
            <a:off x="737648" y="5525172"/>
            <a:ext cx="110647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Collects and displays core business metrics on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Generates three distinct statement types covering inventory, vendor engagement, and procurement.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Leverages layout padding to output tabular, structured report layouts directly to the console window.</a:t>
            </a:r>
          </a:p>
        </p:txBody>
      </p:sp>
    </p:spTree>
    <p:extLst>
      <p:ext uri="{BB962C8B-B14F-4D97-AF65-F5344CB8AC3E}">
        <p14:creationId xmlns:p14="http://schemas.microsoft.com/office/powerpoint/2010/main" val="810819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A154A-B6D4-897E-EE70-7C9E5868B358}"/>
              </a:ext>
            </a:extLst>
          </p:cNvPr>
          <p:cNvSpPr txBox="1"/>
          <p:nvPr/>
        </p:nvSpPr>
        <p:spPr>
          <a:xfrm>
            <a:off x="245807" y="259067"/>
            <a:ext cx="1927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1.3 Staff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A700A-1577-2FCE-599A-1F99C94B56A1}"/>
              </a:ext>
            </a:extLst>
          </p:cNvPr>
          <p:cNvSpPr txBox="1"/>
          <p:nvPr/>
        </p:nvSpPr>
        <p:spPr>
          <a:xfrm>
            <a:off x="652807" y="715247"/>
            <a:ext cx="82932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</a:t>
            </a:r>
            <a:r>
              <a:rPr lang="en-IN" dirty="0" err="1"/>
              <a:t>staffRole</a:t>
            </a:r>
            <a:r>
              <a:rPr lang="en-IN" dirty="0"/>
              <a:t>(){</a:t>
            </a:r>
          </a:p>
          <a:p>
            <a:r>
              <a:rPr lang="en-IN" dirty="0"/>
              <a:t>    system("</a:t>
            </a:r>
            <a:r>
              <a:rPr lang="en-IN" dirty="0" err="1"/>
              <a:t>cls</a:t>
            </a:r>
            <a:r>
              <a:rPr lang="en-IN" dirty="0"/>
              <a:t>");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(108) &lt;&lt; "Choice Role"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(100) &lt;&lt; "1. Sales Manager";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"\t 2. Sales Person"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(91) &lt;&lt; " 3. EXIT"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619C6-0DD4-DABC-DB44-F26C49197A65}"/>
              </a:ext>
            </a:extLst>
          </p:cNvPr>
          <p:cNvSpPr txBox="1"/>
          <p:nvPr/>
        </p:nvSpPr>
        <p:spPr>
          <a:xfrm>
            <a:off x="737648" y="5525172"/>
            <a:ext cx="110647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access points to different views depending on the staff type selected.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Splits the workflow into administrative oversight roles and operational floor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screen clearing commands to keep the console look tidy and structured..</a:t>
            </a:r>
          </a:p>
        </p:txBody>
      </p:sp>
    </p:spTree>
    <p:extLst>
      <p:ext uri="{BB962C8B-B14F-4D97-AF65-F5344CB8AC3E}">
        <p14:creationId xmlns:p14="http://schemas.microsoft.com/office/powerpoint/2010/main" val="3983858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718B-29BE-CE5B-32FA-D0FF676C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59E7A-DB29-D45D-B694-39D10A7DAEC2}"/>
              </a:ext>
            </a:extLst>
          </p:cNvPr>
          <p:cNvSpPr txBox="1"/>
          <p:nvPr/>
        </p:nvSpPr>
        <p:spPr>
          <a:xfrm>
            <a:off x="245806" y="259067"/>
            <a:ext cx="2733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1.2 Sales Manager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B099C-967E-10C8-E6F0-E644AFCF2FDE}"/>
              </a:ext>
            </a:extLst>
          </p:cNvPr>
          <p:cNvSpPr txBox="1"/>
          <p:nvPr/>
        </p:nvSpPr>
        <p:spPr>
          <a:xfrm>
            <a:off x="742335" y="905398"/>
            <a:ext cx="101813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Manager::</a:t>
            </a:r>
            <a:r>
              <a:rPr lang="en-IN" dirty="0" err="1"/>
              <a:t>SalesManagerMenu</a:t>
            </a:r>
            <a:r>
              <a:rPr lang="en-IN" dirty="0"/>
              <a:t>(){</a:t>
            </a:r>
          </a:p>
          <a:p>
            <a:r>
              <a:rPr lang="en-IN" dirty="0"/>
              <a:t>    system("</a:t>
            </a:r>
            <a:r>
              <a:rPr lang="en-IN" dirty="0" err="1"/>
              <a:t>cls</a:t>
            </a:r>
            <a:r>
              <a:rPr lang="en-IN" dirty="0"/>
              <a:t>");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(110) &lt;&lt; "|| SALES MANAGER MENU ||"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(120) &lt;&lt; "1. VIEW PRODUCT \t 2. SALES REQUEST"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(121) &lt;&lt; "3. VIEW SALES REPORT\t 4. REQUEST SUPPLIER"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(109) &lt;&lt; "5. RESPONSE OF SUPPLIER PRODUCT\t\t 6. CHANGE PASSWORD"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(86)  &lt;&lt; "7. LOGOUT"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BE1C9-6093-FC2B-C3DE-C286BE38ED7D}"/>
              </a:ext>
            </a:extLst>
          </p:cNvPr>
          <p:cNvSpPr txBox="1"/>
          <p:nvPr/>
        </p:nvSpPr>
        <p:spPr>
          <a:xfrm>
            <a:off x="742335" y="5546693"/>
            <a:ext cx="10289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middle-management access to track store operations without giving full Admin rights.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Connects sales trends directly to stock requests and supplier confirmations.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Features an explicit self-service utility for updating password credentials locally.</a:t>
            </a:r>
          </a:p>
        </p:txBody>
      </p:sp>
    </p:spTree>
    <p:extLst>
      <p:ext uri="{BB962C8B-B14F-4D97-AF65-F5344CB8AC3E}">
        <p14:creationId xmlns:p14="http://schemas.microsoft.com/office/powerpoint/2010/main" val="166092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1C26E-7C52-03AB-249C-237F2BE7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AE2C6-68A8-6351-92AF-E66658A65F94}"/>
              </a:ext>
            </a:extLst>
          </p:cNvPr>
          <p:cNvSpPr txBox="1"/>
          <p:nvPr/>
        </p:nvSpPr>
        <p:spPr>
          <a:xfrm>
            <a:off x="378541" y="534370"/>
            <a:ext cx="5098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1.3.2  Saler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CAE38-6BC4-EC66-A8EA-3EEB5245A5EC}"/>
              </a:ext>
            </a:extLst>
          </p:cNvPr>
          <p:cNvSpPr txBox="1"/>
          <p:nvPr/>
        </p:nvSpPr>
        <p:spPr>
          <a:xfrm>
            <a:off x="697584" y="1077006"/>
            <a:ext cx="116609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Staff::</a:t>
            </a:r>
            <a:r>
              <a:rPr lang="en-IN" dirty="0" err="1"/>
              <a:t>SalesPersonMenu</a:t>
            </a:r>
            <a:r>
              <a:rPr lang="en-IN" dirty="0"/>
              <a:t>(){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(110) &lt;&lt; "|| SALES PERSON MENU ||"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(90) &lt;&lt; "1. VIEW PRODUCT " &lt;&lt; </a:t>
            </a:r>
            <a:r>
              <a:rPr lang="en-IN" dirty="0" err="1"/>
              <a:t>setw</a:t>
            </a:r>
            <a:r>
              <a:rPr lang="en-IN" dirty="0"/>
              <a:t>(37) &lt;&lt;" 2. SELL PRODUCT"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(108) &lt;&lt; "3. VIEW STATUS OF SELLING PRODUCT " &lt;&lt; </a:t>
            </a:r>
            <a:r>
              <a:rPr lang="en-IN" dirty="0" err="1"/>
              <a:t>setw</a:t>
            </a:r>
            <a:r>
              <a:rPr lang="en-IN" dirty="0"/>
              <a:t>(25) &lt;&lt;" 4. CHANGE PASSWORD 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(84) &lt;&lt; "5. LOGOUT " 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B74B1-147C-EDD1-D0C4-041A27383B1C}"/>
              </a:ext>
            </a:extLst>
          </p:cNvPr>
          <p:cNvSpPr txBox="1"/>
          <p:nvPr/>
        </p:nvSpPr>
        <p:spPr>
          <a:xfrm>
            <a:off x="742335" y="5546693"/>
            <a:ext cx="10289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dedicated portal for everyday store employees to execute transactions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Allows staff to check product availability and log item sales instantly.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Gives individual floor workers the ability to update their unique login password.</a:t>
            </a:r>
          </a:p>
        </p:txBody>
      </p:sp>
    </p:spTree>
    <p:extLst>
      <p:ext uri="{BB962C8B-B14F-4D97-AF65-F5344CB8AC3E}">
        <p14:creationId xmlns:p14="http://schemas.microsoft.com/office/powerpoint/2010/main" val="238276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39D412-A0B2-5964-701A-61F5233E6C69}"/>
              </a:ext>
            </a:extLst>
          </p:cNvPr>
          <p:cNvSpPr txBox="1"/>
          <p:nvPr/>
        </p:nvSpPr>
        <p:spPr>
          <a:xfrm>
            <a:off x="633953" y="733381"/>
            <a:ext cx="108384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Supplier::menu(){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(110) &lt;&lt; "|| SUPPLIER MENU ||"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(98) &lt;&lt; "1. VIEW STOCK REQUEST"&lt;&lt; </a:t>
            </a:r>
            <a:r>
              <a:rPr lang="en-IN" dirty="0" err="1"/>
              <a:t>setw</a:t>
            </a:r>
            <a:r>
              <a:rPr lang="en-IN" dirty="0"/>
              <a:t>(37) &lt;&lt;"2. SUPPLY PRODUCT TO STORE"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(100) &lt;&lt; "3. VIEW SUPPLY HISTORY "&lt;&lt; </a:t>
            </a:r>
            <a:r>
              <a:rPr lang="en-IN" dirty="0" err="1"/>
              <a:t>setw</a:t>
            </a:r>
            <a:r>
              <a:rPr lang="en-IN" dirty="0"/>
              <a:t>(28) &lt;&lt;"4.  CHANGE PASSWORD"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setw</a:t>
            </a:r>
            <a:r>
              <a:rPr lang="en-IN" dirty="0"/>
              <a:t>(98) &lt;&lt; "5. PRODUCT MANAGEMENT" &lt;&lt; </a:t>
            </a:r>
            <a:r>
              <a:rPr lang="en-IN" dirty="0" err="1"/>
              <a:t>setw</a:t>
            </a:r>
            <a:r>
              <a:rPr lang="en-IN" dirty="0"/>
              <a:t>(20) &lt;&lt; "6. LOGOUT" &lt;&lt; </a:t>
            </a:r>
            <a:r>
              <a:rPr lang="en-IN" dirty="0" err="1"/>
              <a:t>endl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line();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88A7E-69B2-C6DA-F475-ED58480A6D5D}"/>
              </a:ext>
            </a:extLst>
          </p:cNvPr>
          <p:cNvSpPr txBox="1"/>
          <p:nvPr/>
        </p:nvSpPr>
        <p:spPr>
          <a:xfrm>
            <a:off x="398207" y="411467"/>
            <a:ext cx="2582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1.4 Supplier Menu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0951F-9C79-5F9F-3892-7957D18F093F}"/>
              </a:ext>
            </a:extLst>
          </p:cNvPr>
          <p:cNvSpPr txBox="1"/>
          <p:nvPr/>
        </p:nvSpPr>
        <p:spPr>
          <a:xfrm>
            <a:off x="742335" y="5546693"/>
            <a:ext cx="10289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distinct security layer designed for external supply partners.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vendors to accept incoming restock requests and dispatch merchandise.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full transparency to review completed delivery logs and change account passwords.</a:t>
            </a:r>
          </a:p>
        </p:txBody>
      </p:sp>
    </p:spTree>
    <p:extLst>
      <p:ext uri="{BB962C8B-B14F-4D97-AF65-F5344CB8AC3E}">
        <p14:creationId xmlns:p14="http://schemas.microsoft.com/office/powerpoint/2010/main" val="19476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01A41-90CA-7770-BD6B-2F0C201AD494}"/>
              </a:ext>
            </a:extLst>
          </p:cNvPr>
          <p:cNvSpPr txBox="1"/>
          <p:nvPr/>
        </p:nvSpPr>
        <p:spPr>
          <a:xfrm>
            <a:off x="304800" y="326612"/>
            <a:ext cx="3765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68C3B-4841-4FE8-2C26-E7F443B82CE2}"/>
              </a:ext>
            </a:extLst>
          </p:cNvPr>
          <p:cNvSpPr txBox="1"/>
          <p:nvPr/>
        </p:nvSpPr>
        <p:spPr>
          <a:xfrm>
            <a:off x="304800" y="849832"/>
            <a:ext cx="2969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1.1  : Login Role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2F4B5-0696-80BB-3244-B54BF5C96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56" y="1741260"/>
            <a:ext cx="11425287" cy="26328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91057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580B9E-8505-7D44-BE96-4508668B52EF}"/>
              </a:ext>
            </a:extLst>
          </p:cNvPr>
          <p:cNvSpPr txBox="1"/>
          <p:nvPr/>
        </p:nvSpPr>
        <p:spPr>
          <a:xfrm>
            <a:off x="248239" y="340785"/>
            <a:ext cx="275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1.2  Admin Menu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C070C-F5F2-AEA4-668A-9017E98A0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34" y="987116"/>
            <a:ext cx="10440732" cy="1953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FF6B6D-85ED-4C43-CEC0-C077E8673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34" y="3587300"/>
            <a:ext cx="10779760" cy="2180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61594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A391D-20AD-0613-4F6D-5F5BE25BF893}"/>
              </a:ext>
            </a:extLst>
          </p:cNvPr>
          <p:cNvSpPr txBox="1"/>
          <p:nvPr/>
        </p:nvSpPr>
        <p:spPr>
          <a:xfrm>
            <a:off x="248239" y="340785"/>
            <a:ext cx="3684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1.3 Product Management 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070C8-A13D-0643-762A-8B8364DC923F}"/>
              </a:ext>
            </a:extLst>
          </p:cNvPr>
          <p:cNvSpPr txBox="1"/>
          <p:nvPr/>
        </p:nvSpPr>
        <p:spPr>
          <a:xfrm>
            <a:off x="695278" y="1009032"/>
            <a:ext cx="3033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1.3.1  Add Product 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C47BE-38FE-3373-D6F5-48F6F6335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" y="1537053"/>
            <a:ext cx="11490960" cy="29151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12663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CE828F-4448-DF3C-8096-E5851B32F05F}"/>
              </a:ext>
            </a:extLst>
          </p:cNvPr>
          <p:cNvSpPr txBox="1"/>
          <p:nvPr/>
        </p:nvSpPr>
        <p:spPr>
          <a:xfrm>
            <a:off x="553038" y="511192"/>
            <a:ext cx="3033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1.3.2  Edit Product 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CECB6-46F7-F9B5-4360-AE8D2541A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8" y="1023237"/>
            <a:ext cx="11419840" cy="2405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59B369-1A01-2F6A-98F9-A6E8A5697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20" y="3860800"/>
            <a:ext cx="11256498" cy="27785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5226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B5990-524E-3E06-643E-DF61BBD50BC3}"/>
              </a:ext>
            </a:extLst>
          </p:cNvPr>
          <p:cNvSpPr txBox="1"/>
          <p:nvPr/>
        </p:nvSpPr>
        <p:spPr>
          <a:xfrm>
            <a:off x="635000" y="3340277"/>
            <a:ext cx="3033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1.3.4  View Product 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EAC2-B685-B358-5CF9-6DA42CF95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1026677"/>
            <a:ext cx="11816080" cy="1663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2A1D5-7B56-C434-F193-F63C44FD5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986608"/>
            <a:ext cx="10922000" cy="26598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390257-5501-3387-5DC5-0CDE65FEF7DF}"/>
              </a:ext>
            </a:extLst>
          </p:cNvPr>
          <p:cNvSpPr txBox="1"/>
          <p:nvPr/>
        </p:nvSpPr>
        <p:spPr>
          <a:xfrm>
            <a:off x="705438" y="663592"/>
            <a:ext cx="3033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1.3.3  Delete Product 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65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C30EA-F9E4-F4BA-D507-C72B58BD21D5}"/>
              </a:ext>
            </a:extLst>
          </p:cNvPr>
          <p:cNvSpPr txBox="1"/>
          <p:nvPr/>
        </p:nvSpPr>
        <p:spPr>
          <a:xfrm>
            <a:off x="553038" y="511192"/>
            <a:ext cx="3684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1.4  Stock Management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D7C2F3-F2B6-9142-52B0-3B7CE2982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" y="1005124"/>
            <a:ext cx="11511280" cy="2104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D5644-C932-9E9C-D5AC-C6ADED523CEA}"/>
              </a:ext>
            </a:extLst>
          </p:cNvPr>
          <p:cNvSpPr txBox="1"/>
          <p:nvPr/>
        </p:nvSpPr>
        <p:spPr>
          <a:xfrm>
            <a:off x="451438" y="3279906"/>
            <a:ext cx="3033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1.4.1  view Stock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BEB897-703E-9B18-D663-7E377A39C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4009277"/>
            <a:ext cx="11601987" cy="233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5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601FA7-E61A-CDCA-B166-020222998144}"/>
              </a:ext>
            </a:extLst>
          </p:cNvPr>
          <p:cNvSpPr txBox="1"/>
          <p:nvPr/>
        </p:nvSpPr>
        <p:spPr>
          <a:xfrm>
            <a:off x="471758" y="936674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1.4.3  Request to supplier For product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9F82E-617B-B00A-7D5E-EE6623A94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78" y="2483517"/>
            <a:ext cx="11793368" cy="311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8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124A43-2940-92A9-9337-FB5760582DA4}"/>
              </a:ext>
            </a:extLst>
          </p:cNvPr>
          <p:cNvSpPr txBox="1"/>
          <p:nvPr/>
        </p:nvSpPr>
        <p:spPr>
          <a:xfrm>
            <a:off x="319358" y="428674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1.4.2  View Product Response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3E796-92FE-0578-BA3A-80A15FB0A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99" y="1356703"/>
            <a:ext cx="11703602" cy="224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27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424E8-D762-C9DE-E4D3-81F56502BA19}"/>
              </a:ext>
            </a:extLst>
          </p:cNvPr>
          <p:cNvSpPr txBox="1"/>
          <p:nvPr/>
        </p:nvSpPr>
        <p:spPr>
          <a:xfrm>
            <a:off x="545500" y="703977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1.5 Supplier Management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2A28E-8785-EFC7-2EB0-C98C2CEA2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" y="2359049"/>
            <a:ext cx="11910656" cy="21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62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5CC1D-C82A-79FA-3BE6-DBFFFAEE6B8C}"/>
              </a:ext>
            </a:extLst>
          </p:cNvPr>
          <p:cNvSpPr txBox="1"/>
          <p:nvPr/>
        </p:nvSpPr>
        <p:spPr>
          <a:xfrm>
            <a:off x="0" y="64159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1.5.1 Add Supplier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0927F-0B0D-D902-9524-E0CF263AF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58" y="465274"/>
            <a:ext cx="11825641" cy="2338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24F07-CFAE-CED4-8704-5E6C1E854217}"/>
              </a:ext>
            </a:extLst>
          </p:cNvPr>
          <p:cNvSpPr txBox="1"/>
          <p:nvPr/>
        </p:nvSpPr>
        <p:spPr>
          <a:xfrm>
            <a:off x="0" y="2804067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1.5.2 Edit Supplier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1A2A6-6B9E-59F7-E380-E53EE502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15" y="3283841"/>
            <a:ext cx="11841570" cy="337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81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5BA8AF-12CC-30B2-5940-184DDE0AD34A}"/>
              </a:ext>
            </a:extLst>
          </p:cNvPr>
          <p:cNvSpPr txBox="1"/>
          <p:nvPr/>
        </p:nvSpPr>
        <p:spPr>
          <a:xfrm>
            <a:off x="117987" y="139525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1.5.3 Edit Update </a:t>
            </a:r>
            <a:r>
              <a:rPr lang="en-US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Cridential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4FC3E-36E7-485E-7E04-8264C349A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" y="903854"/>
            <a:ext cx="11090787" cy="310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85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FC7BD5-A6F4-F001-1D42-62C44DBC4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95" y="483146"/>
            <a:ext cx="11561810" cy="3312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6412F1-AA4B-C1E1-B0E4-AEC8FA1EF3EF}"/>
              </a:ext>
            </a:extLst>
          </p:cNvPr>
          <p:cNvSpPr txBox="1"/>
          <p:nvPr/>
        </p:nvSpPr>
        <p:spPr>
          <a:xfrm>
            <a:off x="0" y="90364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1.5.4 Edit Status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F1056-B85A-8157-1E98-2A0329AFE8B7}"/>
              </a:ext>
            </a:extLst>
          </p:cNvPr>
          <p:cNvSpPr txBox="1"/>
          <p:nvPr/>
        </p:nvSpPr>
        <p:spPr>
          <a:xfrm>
            <a:off x="0" y="3795250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1.5.5 View Supplier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F93CA0-CA78-9448-C0E0-117F02091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4188032"/>
            <a:ext cx="11248103" cy="24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62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2A43FD-F8DB-8B9D-48D9-19D4443D43AE}"/>
              </a:ext>
            </a:extLst>
          </p:cNvPr>
          <p:cNvSpPr txBox="1"/>
          <p:nvPr/>
        </p:nvSpPr>
        <p:spPr>
          <a:xfrm>
            <a:off x="501445" y="1185584"/>
            <a:ext cx="459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1.7  Reports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E1BE7-4469-5F29-F7DA-43B795D7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0" y="2113450"/>
            <a:ext cx="11749548" cy="355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34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9FA06-01A3-C08D-80D9-BC7B70257CE5}"/>
              </a:ext>
            </a:extLst>
          </p:cNvPr>
          <p:cNvSpPr txBox="1"/>
          <p:nvPr/>
        </p:nvSpPr>
        <p:spPr>
          <a:xfrm>
            <a:off x="393290" y="467830"/>
            <a:ext cx="2753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1.7.1 View Stock 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EAE24-13A3-2F37-5E43-C8E61ADC1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4" y="1247955"/>
            <a:ext cx="11631191" cy="236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41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1E142-B37D-6BB9-DB6A-70FC5353F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2" y="1094333"/>
            <a:ext cx="11535691" cy="15898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EF214-E7A1-FA2D-605B-F4622AF8A1FC}"/>
              </a:ext>
            </a:extLst>
          </p:cNvPr>
          <p:cNvSpPr txBox="1"/>
          <p:nvPr/>
        </p:nvSpPr>
        <p:spPr>
          <a:xfrm>
            <a:off x="328154" y="330179"/>
            <a:ext cx="2621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 2.1 Staff Role : </a:t>
            </a:r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A2C6E-73CF-7836-7813-19A2393FF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4" y="2802030"/>
            <a:ext cx="11179278" cy="386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47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8D8CF-E69E-B5A4-DA4E-A6F0B2D51878}"/>
              </a:ext>
            </a:extLst>
          </p:cNvPr>
          <p:cNvSpPr txBox="1"/>
          <p:nvPr/>
        </p:nvSpPr>
        <p:spPr>
          <a:xfrm>
            <a:off x="328154" y="572485"/>
            <a:ext cx="3909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2.1.1 View Product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1.3.4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DEDE0-7B21-ED16-BC04-38100505D914}"/>
              </a:ext>
            </a:extLst>
          </p:cNvPr>
          <p:cNvSpPr txBox="1"/>
          <p:nvPr/>
        </p:nvSpPr>
        <p:spPr>
          <a:xfrm>
            <a:off x="328153" y="1804116"/>
            <a:ext cx="3358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2.1.2 Sell Product 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41D3E-C2C7-042B-0E05-80B80553C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6" y="2812886"/>
            <a:ext cx="11351905" cy="347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2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EE8799-C6AC-98EF-F0F0-CFD2A6670265}"/>
              </a:ext>
            </a:extLst>
          </p:cNvPr>
          <p:cNvSpPr txBox="1"/>
          <p:nvPr/>
        </p:nvSpPr>
        <p:spPr>
          <a:xfrm>
            <a:off x="229831" y="368607"/>
            <a:ext cx="4676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2.1.3  View Status Of selling Product 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B7CA5-920C-4D10-7187-19C594464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10" y="1236162"/>
            <a:ext cx="11570380" cy="29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99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E3C57-6325-6FF5-D344-8F53F5937343}"/>
              </a:ext>
            </a:extLst>
          </p:cNvPr>
          <p:cNvSpPr txBox="1"/>
          <p:nvPr/>
        </p:nvSpPr>
        <p:spPr>
          <a:xfrm>
            <a:off x="471948" y="909484"/>
            <a:ext cx="4676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3.1  Manager Menu 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1443C-9FF5-5050-DB57-11B4DC790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1941812"/>
            <a:ext cx="10979408" cy="40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76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F106A-CE65-CE17-103E-D16DE0FC683A}"/>
              </a:ext>
            </a:extLst>
          </p:cNvPr>
          <p:cNvSpPr txBox="1"/>
          <p:nvPr/>
        </p:nvSpPr>
        <p:spPr>
          <a:xfrm>
            <a:off x="265470" y="388374"/>
            <a:ext cx="4676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3.1.1 :  View Product 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</a:t>
            </a:r>
            <a:r>
              <a:rPr lang="en-US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Figuer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1.3.4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37CC2-1A60-BE07-1D56-E0C3CC2E2A98}"/>
              </a:ext>
            </a:extLst>
          </p:cNvPr>
          <p:cNvSpPr txBox="1"/>
          <p:nvPr/>
        </p:nvSpPr>
        <p:spPr>
          <a:xfrm>
            <a:off x="265470" y="1311704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3.1.2  : Sales Request 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72236-C5D9-3438-1898-18AEE6274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36" y="1803642"/>
            <a:ext cx="11603727" cy="466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61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3031A-6994-C306-7614-A84CD370657D}"/>
              </a:ext>
            </a:extLst>
          </p:cNvPr>
          <p:cNvSpPr txBox="1"/>
          <p:nvPr/>
        </p:nvSpPr>
        <p:spPr>
          <a:xfrm>
            <a:off x="280220" y="4094232"/>
            <a:ext cx="4676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3.1.3  : Request To Supplier 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1.4.3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C6EA4-2F62-3876-C616-8BCAE79DE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20" y="763270"/>
            <a:ext cx="11169445" cy="30028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64981-65B8-9470-86A8-640A83F799E3}"/>
              </a:ext>
            </a:extLst>
          </p:cNvPr>
          <p:cNvSpPr txBox="1"/>
          <p:nvPr/>
        </p:nvSpPr>
        <p:spPr>
          <a:xfrm>
            <a:off x="280220" y="382555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3.1.3  : View Sales Report 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0A582-A16F-4906-2F72-6939CE968C48}"/>
              </a:ext>
            </a:extLst>
          </p:cNvPr>
          <p:cNvSpPr txBox="1"/>
          <p:nvPr/>
        </p:nvSpPr>
        <p:spPr>
          <a:xfrm>
            <a:off x="280220" y="5170865"/>
            <a:ext cx="4676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3.1.4  : Response of Supplier Product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1.4.2 </a:t>
            </a:r>
          </a:p>
        </p:txBody>
      </p:sp>
    </p:spTree>
    <p:extLst>
      <p:ext uri="{BB962C8B-B14F-4D97-AF65-F5344CB8AC3E}">
        <p14:creationId xmlns:p14="http://schemas.microsoft.com/office/powerpoint/2010/main" val="2061550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A5C1F-6E89-C965-C3D4-966D9A78CA2E}"/>
              </a:ext>
            </a:extLst>
          </p:cNvPr>
          <p:cNvSpPr txBox="1"/>
          <p:nvPr/>
        </p:nvSpPr>
        <p:spPr>
          <a:xfrm>
            <a:off x="477392" y="648026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  : Supplier Menu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403C9-7BC4-E8B2-3C31-4E03C4FEC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92" y="1545882"/>
            <a:ext cx="11237216" cy="477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40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6F9162-BBD3-82D9-8EB6-2F7A23D1A059}"/>
              </a:ext>
            </a:extLst>
          </p:cNvPr>
          <p:cNvSpPr txBox="1"/>
          <p:nvPr/>
        </p:nvSpPr>
        <p:spPr>
          <a:xfrm>
            <a:off x="477392" y="648026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4.1.1  : View Request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9EAB-7D43-6F64-D6BF-06D354640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" y="1443075"/>
            <a:ext cx="11287432" cy="249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33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76C21B-EA31-2B33-DDA6-FDF77A6BCE50}"/>
              </a:ext>
            </a:extLst>
          </p:cNvPr>
          <p:cNvSpPr txBox="1"/>
          <p:nvPr/>
        </p:nvSpPr>
        <p:spPr>
          <a:xfrm>
            <a:off x="477392" y="1351936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4.1.2  : Supply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30AB6-826B-2789-F3BA-16E336214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92" y="2418015"/>
            <a:ext cx="11340800" cy="308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56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83951D-F825-0EC0-5C41-B5E28D5676D4}"/>
              </a:ext>
            </a:extLst>
          </p:cNvPr>
          <p:cNvSpPr txBox="1"/>
          <p:nvPr/>
        </p:nvSpPr>
        <p:spPr>
          <a:xfrm>
            <a:off x="295495" y="3956890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4.1.4  : Product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2A6AE6-A7A5-8D86-B94B-AAEB06EFC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95" y="1014491"/>
            <a:ext cx="10972800" cy="2682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96C413-3277-F6E3-9C83-B8C1BF47FC3B}"/>
              </a:ext>
            </a:extLst>
          </p:cNvPr>
          <p:cNvSpPr txBox="1"/>
          <p:nvPr/>
        </p:nvSpPr>
        <p:spPr>
          <a:xfrm>
            <a:off x="295495" y="324464"/>
            <a:ext cx="467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4.1.3  : View Supply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3C128-B891-8085-5C9F-E06469F68DD1}"/>
              </a:ext>
            </a:extLst>
          </p:cNvPr>
          <p:cNvSpPr txBox="1"/>
          <p:nvPr/>
        </p:nvSpPr>
        <p:spPr>
          <a:xfrm>
            <a:off x="905095" y="4401458"/>
            <a:ext cx="6616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4.1.4.1  :  Add Product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1.3.1 ( Supplier_Products.txt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7AE1E3-CF95-BAA8-C4A3-CA93A00F1AFC}"/>
              </a:ext>
            </a:extLst>
          </p:cNvPr>
          <p:cNvSpPr txBox="1"/>
          <p:nvPr/>
        </p:nvSpPr>
        <p:spPr>
          <a:xfrm>
            <a:off x="905095" y="5429093"/>
            <a:ext cx="6616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4.1.4.2  :  Edit Product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1.3.2 ( Supplier_Products.txt )</a:t>
            </a:r>
          </a:p>
        </p:txBody>
      </p:sp>
    </p:spTree>
    <p:extLst>
      <p:ext uri="{BB962C8B-B14F-4D97-AF65-F5344CB8AC3E}">
        <p14:creationId xmlns:p14="http://schemas.microsoft.com/office/powerpoint/2010/main" val="33812478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4124E-D194-FC5B-2CE1-5143D97CB709}"/>
              </a:ext>
            </a:extLst>
          </p:cNvPr>
          <p:cNvSpPr txBox="1"/>
          <p:nvPr/>
        </p:nvSpPr>
        <p:spPr>
          <a:xfrm>
            <a:off x="728115" y="842181"/>
            <a:ext cx="6616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4.1.4.3  :  Delete Product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1.3.3 ( Supplier_Products.txt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6933A-D165-A3A1-454D-9DF925EE29FF}"/>
              </a:ext>
            </a:extLst>
          </p:cNvPr>
          <p:cNvSpPr txBox="1"/>
          <p:nvPr/>
        </p:nvSpPr>
        <p:spPr>
          <a:xfrm>
            <a:off x="728115" y="2228528"/>
            <a:ext cx="6616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Figure 4.1.4.4  :  View Product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Same as figure 1.3.4 ( Supplier_Products.txt )</a:t>
            </a:r>
          </a:p>
        </p:txBody>
      </p:sp>
    </p:spTree>
    <p:extLst>
      <p:ext uri="{BB962C8B-B14F-4D97-AF65-F5344CB8AC3E}">
        <p14:creationId xmlns:p14="http://schemas.microsoft.com/office/powerpoint/2010/main" val="3222241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1C4E8992-4CCF-29D3-2C6F-DCD1D9414613}"/>
              </a:ext>
            </a:extLst>
          </p:cNvPr>
          <p:cNvSpPr txBox="1">
            <a:spLocks/>
          </p:cNvSpPr>
          <p:nvPr/>
        </p:nvSpPr>
        <p:spPr>
          <a:xfrm>
            <a:off x="177215" y="211756"/>
            <a:ext cx="3460719" cy="85905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6E20D-DC87-E4BF-8D7B-50E6858CAE57}"/>
              </a:ext>
            </a:extLst>
          </p:cNvPr>
          <p:cNvSpPr txBox="1"/>
          <p:nvPr/>
        </p:nvSpPr>
        <p:spPr>
          <a:xfrm>
            <a:off x="177214" y="883998"/>
            <a:ext cx="1838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5.1 Login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840208-99CD-C566-1B9A-6E8D5ABE2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475846"/>
              </p:ext>
            </p:extLst>
          </p:nvPr>
        </p:nvGraphicFramePr>
        <p:xfrm>
          <a:off x="393290" y="1504335"/>
          <a:ext cx="10500854" cy="29763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4490">
                  <a:extLst>
                    <a:ext uri="{9D8B030D-6E8A-4147-A177-3AD203B41FA5}">
                      <a16:colId xmlns:a16="http://schemas.microsoft.com/office/drawing/2014/main" val="3813799757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99593811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266560116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4264399380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79606773"/>
                    </a:ext>
                  </a:extLst>
                </a:gridCol>
              </a:tblGrid>
              <a:tr h="691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 ID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Description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Input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Expected Result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7629391"/>
                  </a:ext>
                </a:extLst>
              </a:tr>
              <a:tr h="6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TC_LOGIN_01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Valid Admin Login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Enter correct username/password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ADMIN / admin@123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Login Successful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6568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TC_LOGIN_02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Invalid Login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Enter wrong password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admin / wrong123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Error message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83656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TC_LOGIN_03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Max Attempts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Enter wrong details 3 times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wrong creds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System locks for 30 sec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953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4031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B9FD8-B4F6-22EC-4682-24EC4DDD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71628C-82B7-5355-F241-7F85253D6AF6}"/>
              </a:ext>
            </a:extLst>
          </p:cNvPr>
          <p:cNvSpPr txBox="1"/>
          <p:nvPr/>
        </p:nvSpPr>
        <p:spPr>
          <a:xfrm>
            <a:off x="177214" y="883998"/>
            <a:ext cx="1838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5.2 Admin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C5FA5A-6D28-E200-9E5B-2C86E844AFFA}"/>
              </a:ext>
            </a:extLst>
          </p:cNvPr>
          <p:cNvGraphicFramePr>
            <a:graphicFrameLocks noGrp="1"/>
          </p:cNvGraphicFramePr>
          <p:nvPr/>
        </p:nvGraphicFramePr>
        <p:xfrm>
          <a:off x="393290" y="1504335"/>
          <a:ext cx="10500854" cy="36674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4490">
                  <a:extLst>
                    <a:ext uri="{9D8B030D-6E8A-4147-A177-3AD203B41FA5}">
                      <a16:colId xmlns:a16="http://schemas.microsoft.com/office/drawing/2014/main" val="3813799757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99593811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266560116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4264399380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79606773"/>
                    </a:ext>
                  </a:extLst>
                </a:gridCol>
              </a:tblGrid>
              <a:tr h="691047"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 ID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7629391"/>
                  </a:ext>
                </a:extLst>
              </a:tr>
              <a:tr h="677086"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TC_ADMIN_01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Product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to Add → Save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Brake Pad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Added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6568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TC_ADMIN_02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Edit Product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product → Edit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83656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TC_ADMIN_03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Product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product → Delete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P1001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9536612"/>
                  </a:ext>
                </a:extLst>
              </a:tr>
              <a:tr h="691047"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TC_ADMIN_04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Supplier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 supplier form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Supplier Info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8141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10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F6420-9D3B-5F7E-64CF-E22D57B0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DA7D9E-F58E-A565-E6CD-BFDF3F02CE4A}"/>
              </a:ext>
            </a:extLst>
          </p:cNvPr>
          <p:cNvSpPr txBox="1"/>
          <p:nvPr/>
        </p:nvSpPr>
        <p:spPr>
          <a:xfrm>
            <a:off x="177214" y="883998"/>
            <a:ext cx="1838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5.3 Staff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E0936E-DCE5-0320-99AF-18E33C418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502433"/>
              </p:ext>
            </p:extLst>
          </p:nvPr>
        </p:nvGraphicFramePr>
        <p:xfrm>
          <a:off x="393290" y="1504335"/>
          <a:ext cx="10500854" cy="29763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4490">
                  <a:extLst>
                    <a:ext uri="{9D8B030D-6E8A-4147-A177-3AD203B41FA5}">
                      <a16:colId xmlns:a16="http://schemas.microsoft.com/office/drawing/2014/main" val="3813799757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99593811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266560116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4264399380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79606773"/>
                    </a:ext>
                  </a:extLst>
                </a:gridCol>
              </a:tblGrid>
              <a:tr h="691047"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 ID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Description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Input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Expected Result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7629391"/>
                  </a:ext>
                </a:extLst>
              </a:tr>
              <a:tr h="677086"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TC_STAFF_01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Create Sales Request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Enter product &amp; qty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P1001 / 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Request Created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6568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TC_STAFF_02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Approve Sale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Approve request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R1001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Approved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83656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TC_STAFF_03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Reject Sale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Reject request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R1001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4135">
                        <a:spcBef>
                          <a:spcPts val="1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Rejected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953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51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9EE6-03C6-6DFA-CAC3-2107B307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7FE276-6DF3-0B29-7901-8FB19313376D}"/>
              </a:ext>
            </a:extLst>
          </p:cNvPr>
          <p:cNvSpPr txBox="1"/>
          <p:nvPr/>
        </p:nvSpPr>
        <p:spPr>
          <a:xfrm>
            <a:off x="177214" y="883998"/>
            <a:ext cx="223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5.4 Supplier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9D4CBB-2ECC-F980-AF4A-7A1D109D1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024629"/>
              </p:ext>
            </p:extLst>
          </p:nvPr>
        </p:nvGraphicFramePr>
        <p:xfrm>
          <a:off x="393290" y="1504335"/>
          <a:ext cx="10500854" cy="29763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4490">
                  <a:extLst>
                    <a:ext uri="{9D8B030D-6E8A-4147-A177-3AD203B41FA5}">
                      <a16:colId xmlns:a16="http://schemas.microsoft.com/office/drawing/2014/main" val="3813799757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99593811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2665601162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4264399380"/>
                    </a:ext>
                  </a:extLst>
                </a:gridCol>
                <a:gridCol w="2106591">
                  <a:extLst>
                    <a:ext uri="{9D8B030D-6E8A-4147-A177-3AD203B41FA5}">
                      <a16:colId xmlns:a16="http://schemas.microsoft.com/office/drawing/2014/main" val="379606773"/>
                    </a:ext>
                  </a:extLst>
                </a:gridCol>
              </a:tblGrid>
              <a:tr h="691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 ID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Description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Input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Expected Result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7629391"/>
                  </a:ext>
                </a:extLst>
              </a:tr>
              <a:tr h="6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TC_SUPPLIER_01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View Requests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Open stock requests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—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Requests displayed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6568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TC_SUPPLIER_02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Supply Product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Enter qty to supply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Supplied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8365635"/>
                  </a:ext>
                </a:extLst>
              </a:tr>
              <a:tr h="804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TC_SUPPLIER_03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Reject Supply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Insufficient stock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7200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—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Rejected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953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3065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CCC26-A4FD-597E-3BD4-EB6C259B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85B1D-0A38-E3F6-7C3C-BE65CC0BA7B2}"/>
              </a:ext>
            </a:extLst>
          </p:cNvPr>
          <p:cNvSpPr txBox="1"/>
          <p:nvPr/>
        </p:nvSpPr>
        <p:spPr>
          <a:xfrm>
            <a:off x="462351" y="2025443"/>
            <a:ext cx="87015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Car Inventory Management System ensures efficient handling of inventory, suppliers, and staff operations. By automating these processes, the system improves accuracy, reduces manual effort, and supports better decision-making through detailed reports.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D41BA1E-9E37-215A-A4B0-9DA8875EA157}"/>
              </a:ext>
            </a:extLst>
          </p:cNvPr>
          <p:cNvSpPr txBox="1">
            <a:spLocks/>
          </p:cNvSpPr>
          <p:nvPr/>
        </p:nvSpPr>
        <p:spPr>
          <a:xfrm>
            <a:off x="462351" y="654207"/>
            <a:ext cx="3460719" cy="859055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4037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7130-4947-238F-5CD1-AFA0F93A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649AF-AB79-B50C-048B-15CDFAFAD9E4}"/>
              </a:ext>
            </a:extLst>
          </p:cNvPr>
          <p:cNvSpPr txBox="1"/>
          <p:nvPr/>
        </p:nvSpPr>
        <p:spPr>
          <a:xfrm>
            <a:off x="535857" y="1612489"/>
            <a:ext cx="87015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Inventory Management Fundamentals</a:t>
            </a:r>
            <a:r>
              <a:rPr lang="en-US" dirty="0"/>
              <a:t> – Concepts related to stock control, supplier coordination, purchase management, and sales operations.</a:t>
            </a:r>
            <a:br>
              <a:rPr lang="en-US" dirty="0"/>
            </a:br>
            <a:r>
              <a:rPr lang="en-US" u="sng" dirty="0">
                <a:hlinkClick r:id="rId2"/>
              </a:rPr>
              <a:t>https://www.tutorialspoint.com/inventory-management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pPr lvl="0"/>
            <a:r>
              <a:rPr lang="en-US" b="1" dirty="0"/>
              <a:t>Inventory Control Techniques</a:t>
            </a:r>
            <a:r>
              <a:rPr lang="en-US" dirty="0"/>
              <a:t> – Used to understand reorder levels, stock tracking, and supply-demand balancing.</a:t>
            </a:r>
            <a:br>
              <a:rPr lang="en-US" dirty="0"/>
            </a:br>
            <a:r>
              <a:rPr lang="en-US" u="sng" dirty="0">
                <a:hlinkClick r:id="rId3"/>
              </a:rPr>
              <a:t>https://www.geeksforgeeks.org/inventory-control-techniques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pPr lvl="0"/>
            <a:r>
              <a:rPr lang="en-US" b="1" dirty="0"/>
              <a:t>File Handling in C++</a:t>
            </a:r>
            <a:r>
              <a:rPr lang="en-US" dirty="0"/>
              <a:t> – Referred for reading, writing, updating, and deleting product, staff, and supplier records.</a:t>
            </a:r>
            <a:br>
              <a:rPr lang="en-US" dirty="0"/>
            </a:br>
            <a:r>
              <a:rPr lang="en-US" dirty="0">
                <a:hlinkClick r:id="rId4" tooltip="https://www.geeksforgeeks.org/file-handling-cpp"/>
              </a:rPr>
              <a:t>https://www.geeksforgeeks.org/file-handling-cpp</a:t>
            </a:r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939D0C1-E71C-714B-586C-8BE63B2FAB4F}"/>
              </a:ext>
            </a:extLst>
          </p:cNvPr>
          <p:cNvSpPr txBox="1">
            <a:spLocks/>
          </p:cNvSpPr>
          <p:nvPr/>
        </p:nvSpPr>
        <p:spPr>
          <a:xfrm>
            <a:off x="462351" y="654207"/>
            <a:ext cx="3460719" cy="859055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48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2BF1709-DA49-D873-1DA3-67F7DF416AE6}"/>
              </a:ext>
            </a:extLst>
          </p:cNvPr>
          <p:cNvSpPr txBox="1">
            <a:spLocks/>
          </p:cNvSpPr>
          <p:nvPr/>
        </p:nvSpPr>
        <p:spPr>
          <a:xfrm>
            <a:off x="1229268" y="2394516"/>
            <a:ext cx="10215481" cy="186285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Visiting Car Inventory Management System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75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2529</Words>
  <Application>Microsoft Office PowerPoint</Application>
  <PresentationFormat>Widescreen</PresentationFormat>
  <Paragraphs>364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Adobe Arabic</vt:lpstr>
      <vt:lpstr>Arial</vt:lpstr>
      <vt:lpstr>Calibri</vt:lpstr>
      <vt:lpstr>Calibri Light</vt:lpstr>
      <vt:lpstr>Times New Roman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Tushit Maisuriya</dc:creator>
  <cp:lastModifiedBy>Tushit Maisuriya</cp:lastModifiedBy>
  <cp:revision>208</cp:revision>
  <dcterms:created xsi:type="dcterms:W3CDTF">2025-10-02T17:25:47Z</dcterms:created>
  <dcterms:modified xsi:type="dcterms:W3CDTF">2026-06-10T14:46:53Z</dcterms:modified>
</cp:coreProperties>
</file>